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4840482f8e4224" /><Relationship Type="http://schemas.openxmlformats.org/officeDocument/2006/relationships/extended-properties" Target="/docProps/app.xml" Id="Ra8ca3a73ed7b484d" /><Relationship Type="http://schemas.openxmlformats.org/officeDocument/2006/relationships/officeDocument" Target="/ppt/presentation.xml" Id="R400323ebce37405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13c3b3d81349c9"/>
  </p:sldMasterIdLst>
  <p:notesMasterIdLst>
    <p:notesMasterId xmlns:r="http://schemas.openxmlformats.org/officeDocument/2006/relationships" r:id="R970c31b3d74b4aaa"/>
  </p:notesMasterIdLst>
  <p:sldIdLst>
    <p:sldId xmlns:r="http://schemas.openxmlformats.org/officeDocument/2006/relationships" id="256" r:id="R43aebc412b274b0b"/>
    <p:sldId xmlns:r="http://schemas.openxmlformats.org/officeDocument/2006/relationships" id="257" r:id="R476f24603d804ac2"/>
    <p:sldId xmlns:r="http://schemas.openxmlformats.org/officeDocument/2006/relationships" id="258" r:id="Rb71a323ff42f46aa"/>
    <p:sldId xmlns:r="http://schemas.openxmlformats.org/officeDocument/2006/relationships" id="259" r:id="R75c4e03341ee4577"/>
    <p:sldId xmlns:r="http://schemas.openxmlformats.org/officeDocument/2006/relationships" id="260" r:id="Re207797c7ec44dbb"/>
    <p:sldId xmlns:r="http://schemas.openxmlformats.org/officeDocument/2006/relationships" id="261" r:id="R9ff364547a6142ea"/>
    <p:sldId xmlns:r="http://schemas.openxmlformats.org/officeDocument/2006/relationships" id="262" r:id="R9e9203bba9744b16"/>
    <p:sldId xmlns:r="http://schemas.openxmlformats.org/officeDocument/2006/relationships" id="263" r:id="R24e9b8804fdb4699"/>
    <p:sldId xmlns:r="http://schemas.openxmlformats.org/officeDocument/2006/relationships" id="264" r:id="R1baca44891384cd7"/>
    <p:sldId xmlns:r="http://schemas.openxmlformats.org/officeDocument/2006/relationships" id="265" r:id="R45a8befa750e4b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34d555108c419c" /><Relationship Type="http://schemas.openxmlformats.org/officeDocument/2006/relationships/slideMaster" Target="/ppt/slideMasters/slideMaster1.xml" Id="R7413c3b3d81349c9" /><Relationship Type="http://schemas.openxmlformats.org/officeDocument/2006/relationships/notesMaster" Target="/ppt/notesMasters/notesMaster1.xml" Id="R970c31b3d74b4aaa" /><Relationship Type="http://schemas.openxmlformats.org/officeDocument/2006/relationships/presProps" Target="/ppt/presProps.xml" Id="Rd79ade3252b641fb" /><Relationship Type="http://schemas.openxmlformats.org/officeDocument/2006/relationships/tableStyles" Target="/ppt/tableStyles.xml" Id="R1a8eb4c9019f4596" /><Relationship Type="http://schemas.openxmlformats.org/officeDocument/2006/relationships/slide" Target="/ppt/slides/slide1.xml" Id="R43aebc412b274b0b" /><Relationship Type="http://schemas.openxmlformats.org/officeDocument/2006/relationships/slide" Target="/ppt/slides/slide2.xml" Id="R476f24603d804ac2" /><Relationship Type="http://schemas.openxmlformats.org/officeDocument/2006/relationships/slide" Target="/ppt/slides/slide3.xml" Id="Rb71a323ff42f46aa" /><Relationship Type="http://schemas.openxmlformats.org/officeDocument/2006/relationships/slide" Target="/ppt/slides/slide4.xml" Id="R75c4e03341ee4577" /><Relationship Type="http://schemas.openxmlformats.org/officeDocument/2006/relationships/slide" Target="/ppt/slides/slide5.xml" Id="Re207797c7ec44dbb" /><Relationship Type="http://schemas.openxmlformats.org/officeDocument/2006/relationships/slide" Target="/ppt/slides/slide6.xml" Id="R9ff364547a6142ea" /><Relationship Type="http://schemas.openxmlformats.org/officeDocument/2006/relationships/slide" Target="/ppt/slides/slide7.xml" Id="R9e9203bba9744b16" /><Relationship Type="http://schemas.openxmlformats.org/officeDocument/2006/relationships/slide" Target="/ppt/slides/slide8.xml" Id="R24e9b8804fdb4699" /><Relationship Type="http://schemas.openxmlformats.org/officeDocument/2006/relationships/slide" Target="/ppt/slides/slide9.xml" Id="R1baca44891384cd7" /><Relationship Type="http://schemas.openxmlformats.org/officeDocument/2006/relationships/slide" Target="/ppt/slides/slide10.xml" Id="R45a8befa750e4b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a3b1a201e945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9940bd71a54fff" /><Relationship Type="http://schemas.openxmlformats.org/officeDocument/2006/relationships/notesMaster" Target="/ppt/notesMasters/notesMaster1.xml" Id="Re6bb32e293bb44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2a05617bf941a1" /><Relationship Type="http://schemas.openxmlformats.org/officeDocument/2006/relationships/notesMaster" Target="/ppt/notesMasters/notesMaster1.xml" Id="Ra5c96a47010846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edb2e1e7434f3e" /><Relationship Type="http://schemas.openxmlformats.org/officeDocument/2006/relationships/notesMaster" Target="/ppt/notesMasters/notesMaster1.xml" Id="R1b2136d792c04c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360ebf05c14859" /><Relationship Type="http://schemas.openxmlformats.org/officeDocument/2006/relationships/notesMaster" Target="/ppt/notesMasters/notesMaster1.xml" Id="R24223349cae34a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4c337956e34b9c" /><Relationship Type="http://schemas.openxmlformats.org/officeDocument/2006/relationships/notesMaster" Target="/ppt/notesMasters/notesMaster1.xml" Id="R02e2bc7c89d447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3ef749f9ea4778" /><Relationship Type="http://schemas.openxmlformats.org/officeDocument/2006/relationships/notesMaster" Target="/ppt/notesMasters/notesMaster1.xml" Id="R6fb28ac03f3743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c9f92c31d44f7f" /><Relationship Type="http://schemas.openxmlformats.org/officeDocument/2006/relationships/notesMaster" Target="/ppt/notesMasters/notesMaster1.xml" Id="R15494eecb61a40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6613a086c64840" /><Relationship Type="http://schemas.openxmlformats.org/officeDocument/2006/relationships/notesMaster" Target="/ppt/notesMasters/notesMaster1.xml" Id="R3c14a3fbbb2d42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4310c75310444f" /><Relationship Type="http://schemas.openxmlformats.org/officeDocument/2006/relationships/notesMaster" Target="/ppt/notesMasters/notesMaster1.xml" Id="Re432967baa9744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05d7d5f921d4b15" /><Relationship Type="http://schemas.openxmlformats.org/officeDocument/2006/relationships/notesMaster" Target="/ppt/notesMasters/notesMaster1.xml" Id="R16da7c405f084f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repositorio customer-churn-ml y notebook notebooks/01_eda_y_modelos.ipynb.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salida del EDA guardada en el notebook. Dimensiones 7043 x 21, churn 26,37 % y 26 faltantes en TotalCharges.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secciones de análisis bivariado y conclusiones del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celda de partición train/test del notebook. test_size=0.2, stratify=y y random_state=42.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sección Pipeline de Preprocesamiento del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secciones 9.1, 9.2 y 9.3 del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tabla df_resultados del notebook. Valores redondeados a dos decimales.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interpretación de la matriz de confusión de Regresión Logística en el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requisitos del primer parcial y contenido actual de la rama refactorizacion-dvc.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comparación entre la consigna del parcial y el contenido del repositorio al momento de preparar la presentación.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6492211ac42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8927e133b84133" /><Relationship Type="http://schemas.openxmlformats.org/officeDocument/2006/relationships/slideLayout" Target="/ppt/slideLayouts/slideLayout1.xml" Id="R42a721a2149345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a721a2149345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99c3fa8f64223" /><Relationship Type="http://schemas.openxmlformats.org/officeDocument/2006/relationships/notesSlide" Target="/ppt/notesSlides/notesSlide1.xml" Id="R2c50fda693af4d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46d611e7be4245" /><Relationship Type="http://schemas.openxmlformats.org/officeDocument/2006/relationships/notesSlide" Target="/ppt/notesSlides/notesSlide2.xml" Id="R7598cbd9421342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00bad293e4c4d" /><Relationship Type="http://schemas.openxmlformats.org/officeDocument/2006/relationships/notesSlide" Target="/ppt/notesSlides/notesSlide3.xml" Id="Rc17266e8698249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b4ca7b9ef4b53" /><Relationship Type="http://schemas.openxmlformats.org/officeDocument/2006/relationships/notesSlide" Target="/ppt/notesSlides/notesSlide4.xml" Id="R063143b41f1748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c77463a2e40bf" /><Relationship Type="http://schemas.openxmlformats.org/officeDocument/2006/relationships/notesSlide" Target="/ppt/notesSlides/notesSlide5.xml" Id="R8ed34649047842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e6e28127e4a00" /><Relationship Type="http://schemas.openxmlformats.org/officeDocument/2006/relationships/notesSlide" Target="/ppt/notesSlides/notesSlide6.xml" Id="R8db8dbea7e1348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a95c86cde44f0" /><Relationship Type="http://schemas.openxmlformats.org/officeDocument/2006/relationships/chart" Target="/ppt/slides/charts/chart1.xml" Id="R65864b45fb9b4810" /><Relationship Type="http://schemas.openxmlformats.org/officeDocument/2006/relationships/notesSlide" Target="/ppt/notesSlides/notesSlide7.xml" Id="R7de80c8ed22b49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284c085aa460d" /><Relationship Type="http://schemas.openxmlformats.org/officeDocument/2006/relationships/notesSlide" Target="/ppt/notesSlides/notesSlide8.xml" Id="R89d29677cc8449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a3ce2c6724826" /><Relationship Type="http://schemas.openxmlformats.org/officeDocument/2006/relationships/notesSlide" Target="/ppt/notesSlides/notesSlide9.xml" Id="Rb3feb64e9ba641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58b09685142f7" /><Relationship Type="http://schemas.openxmlformats.org/officeDocument/2006/relationships/notesSlide" Target="/ppt/notesSlides/notesSlide10.xml" Id="R35d281fdb82f4ab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</c:v>
          </c:tx>
          <c:spPr>
            <a:solidFill xmlns:a="http://schemas.openxmlformats.org/drawingml/2006/main">
              <a:srgbClr val="2D8794"/>
            </a:solidFill>
          </c:spPr>
          <c:cat>
            <c:strRef>
              <c:f>'Chart Data'!$A$2:$A$4</c:f>
              <c:strCache>
                <c:ptCount val="3"/>
                <c:pt idx="0">
                  <c:v>Dummy</c:v>
                </c:pt>
                <c:pt idx="1">
                  <c:v>Regresión Logística</c:v>
                </c:pt>
                <c:pt idx="2">
                  <c:v>Random Forest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</c:v>
                </c:pt>
                <c:pt idx="1">
                  <c:v>0.72</c:v>
                </c:pt>
                <c:pt idx="2">
                  <c:v>0.61</c:v>
                </c:pt>
              </c:numCache>
            </c:numRef>
          </c:val>
        </c:ser>
        <c:ser>
          <c:idx val="1"/>
          <c:order val="1"/>
          <c:tx>
            <c:v>F1</c:v>
          </c:tx>
          <c:spPr>
            <a:solidFill xmlns:a="http://schemas.openxmlformats.org/drawingml/2006/main">
              <a:srgbClr val="5487C2"/>
            </a:solidFill>
          </c:spPr>
          <c:cat>
            <c:strRef>
              <c:f>'Chart Data'!$C$2:$C$4</c:f>
              <c:strCache>
                <c:ptCount val="3"/>
                <c:pt idx="0">
                  <c:v>Dummy</c:v>
                </c:pt>
                <c:pt idx="1">
                  <c:v>Regresión Logística</c:v>
                </c:pt>
                <c:pt idx="2">
                  <c:v>Random Forest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</c:v>
                </c:pt>
                <c:pt idx="1">
                  <c:v>0.58</c:v>
                </c:pt>
                <c:pt idx="2">
                  <c:v>0.57</c:v>
                </c:pt>
              </c:numCache>
            </c:numRef>
          </c:val>
        </c:ser>
        <c:ser>
          <c:idx val="2"/>
          <c:order val="2"/>
          <c:tx>
            <c:v>ROC-AUC</c:v>
          </c:tx>
          <c:spPr>
            <a:solidFill xmlns:a="http://schemas.openxmlformats.org/drawingml/2006/main">
              <a:srgbClr val="183A63"/>
            </a:solidFill>
          </c:spPr>
          <c:cat>
            <c:strRef>
              <c:f>'Chart Data'!$E$2:$E$4</c:f>
              <c:strCache>
                <c:ptCount val="3"/>
                <c:pt idx="0">
                  <c:v>Dummy</c:v>
                </c:pt>
                <c:pt idx="1">
                  <c:v>Regresión Logística</c:v>
                </c:pt>
                <c:pt idx="2">
                  <c:v>Random Forest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0.5</c:v>
                </c:pt>
                <c:pt idx="1">
                  <c:v>0.81</c:v>
                </c:pt>
                <c:pt idx="2">
                  <c:v>0.8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A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4A0C55-EE48-482D-820B-31EA37B1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Customer Churn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905C5-B717-4582-81F9-EA3E2A6A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D8E4EF"/>
                </a:solidFill>
                <a:latin typeface="Aptos"/>
                <a:ea typeface="Aptos"/>
                <a:cs typeface="Aptos"/>
              </a:defRPr>
            </a:pPr>
            <a:r>
              <a:rPr sz="2325" b="0">
                <a:solidFill>
                  <a:srgbClr val="D8E4EF"/>
                </a:solidFill>
                <a:latin typeface="Aptos"/>
                <a:ea typeface="Aptos"/>
                <a:cs typeface="Aptos"/>
              </a:rPr>
              <a:t>Entrega 1 · Primer Parcial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5E083-4EC5-4728-9527-C420E39B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0375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ED0E1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ED0E1"/>
                </a:solidFill>
                <a:latin typeface="Aptos"/>
                <a:ea typeface="Aptos"/>
                <a:cs typeface="Aptos"/>
              </a:rPr>
              <a:t>Laboratorio de Minería de Datos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42896F-B725-4305-9084-D295766F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EDA, preprocesamiento y comparación inicial de modelos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56CB0-5759-4CCF-A309-69F4B854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ED0E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ED0E1"/>
                </a:solidFill>
                <a:latin typeface="Aptos"/>
                <a:ea typeface="Aptos"/>
                <a:cs typeface="Aptos"/>
              </a:rPr>
              <a:t>github.com/alfonsinadiaz/customer-churn-ml</a:t>
            </a:r>
          </a:p>
        </p:txBody>
      </p:sp>
    </p:spTree>
    <p:extLst>
      <p:ext uri="{BB962C8B-B14F-4D97-AF65-F5344CB8AC3E}">
        <p14:creationId xmlns:p14="http://schemas.microsoft.com/office/powerpoint/2010/main" val="1960800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AAEA1B-3336-44FA-835A-37A6817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Objetivo y 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268C9-D50A-4507-95EB-9D762983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29C88-C95A-4ACF-8383-5A4E1255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906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5C9A1-9EDD-43AF-973C-954DF94A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Identificar clientes con riesgo de abandonar el servicio para orientar acciones de retención.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3CC17-6F7B-4589-9DD7-BB7A7316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987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7.043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E4231-531D-4636-9113-931A7B71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4E08B-8207-447F-AC89-EB8285ED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9875"/>
            <a:ext cx="161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78287-0CAC-4B83-BAB1-6E309EFF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290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columnas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ED0137-B105-40F7-B20D-4012A283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9875"/>
            <a:ext cx="2286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5487C2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5487C2"/>
                </a:solidFill>
                <a:latin typeface="Aptos"/>
                <a:ea typeface="Aptos"/>
                <a:cs typeface="Aptos"/>
              </a:rPr>
              <a:t>26,37 %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56FAAF-7010-4A79-B8DC-E3884964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290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tasa de churn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7BDF4-9ABB-4CDF-93A0-D213947A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9875"/>
            <a:ext cx="142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66A17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A66A17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9011A-E923-4D6C-9D2B-2AED6A20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faltantes en TotalCharges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5CF20-11C6-4CD5-86E3-B2E32EF88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10125"/>
            <a:ext cx="914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customerID se excluye del entrenamiento porque identifica al cliente.</a:t>
            </a:r>
          </a:p>
        </p:txBody>
      </p:sp>
    </p:spTree>
    <p:extLst>
      <p:ext uri="{BB962C8B-B14F-4D97-AF65-F5344CB8AC3E}">
        <p14:creationId xmlns:p14="http://schemas.microsoft.com/office/powerpoint/2010/main" val="632492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7927C-E116-4975-BC73-4263FD85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Análisis exploratorio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11B16-C2D8-43D5-A76F-0A941A19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FF393-8A14-4FDA-92F4-8F7E5EB7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335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Contrato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9DED1-6968-4C08-999D-ABFFD23F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38,73 % de churn en contratos mes a mes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8,97 % en contratos de dos años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8E89F2-0D5C-45C3-B073-7B665236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Servicio de Internet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E9006-A01C-4679-9B6B-BCF9867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40,25 % de churn con fibra óptica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19,97 % con DSL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0F5AAE-77DE-48ED-BDCA-7CE166B6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Antigüedad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0EF3DA-CFFE-4207-B787-F8AD9E8B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29,28 meses entre quienes abandonan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37,28 meses entre quienes permanecen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00228-621A-4499-808B-81D833FD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Cargo mensual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8B9A0B-4AC2-4F05-B874-2ADFD40A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79,98 entre quienes abandonan</a:t>
            </a:r>
          </a:p>
          <a:p xmlns:a="http://schemas.openxmlformats.org/drawingml/2006/main">
            <a:pPr algn="l">
              <a:defRPr sz="1800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63,94 entre quienes permanecen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07B42-0489-49F7-B838-9DDC0B56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61975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Las relaciones observadas son descriptivas y no demuestran causalidad.</a:t>
            </a:r>
          </a:p>
        </p:txBody>
      </p:sp>
    </p:spTree>
    <p:extLst>
      <p:ext uri="{BB962C8B-B14F-4D97-AF65-F5344CB8AC3E}">
        <p14:creationId xmlns:p14="http://schemas.microsoft.com/office/powerpoint/2010/main" val="13996766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C8B3F-AF3B-499C-8BCA-AC44A094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Partición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55E8F4-514D-4675-B129-842675C1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C9835-6531-46EC-92A8-0713E865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80 %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9A5B8-962C-448B-80C3-7F7DCE7E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Entrenamiento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5.634 clientes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3BA1A-16D7-4B44-AF7A-276F9F64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45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20 %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585A5-7D8B-40B3-B5B1-120D1956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Test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1.409 clientes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8AB1D-738B-43D0-B096-2F7F09E3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5487C2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5487C2"/>
                </a:solidFill>
                <a:latin typeface="Aptos"/>
                <a:ea typeface="Aptos"/>
                <a:cs typeface="Aptos"/>
              </a:rPr>
              <a:t>26,36 %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B04080-CE44-401F-90C8-B81AE313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67000"/>
            <a:ext cx="238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churn en train</a:t>
            </a:r>
          </a:p>
          <a:p xmlns:a="http://schemas.openxmlformats.org/drawingml/2006/main">
            <a:pPr algn="ctr">
              <a:defRPr sz="187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26,40 % en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BDF1B-192C-4998-AB1D-D05AFBCD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76750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 estratificación conserva la proporción de la clase positiva.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F140C-0F47-4496-8074-B47602A3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95875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random_state = 42 permite repetir exactamente la separación.</a:t>
            </a:r>
          </a:p>
        </p:txBody>
      </p:sp>
    </p:spTree>
    <p:extLst>
      <p:ext uri="{BB962C8B-B14F-4D97-AF65-F5344CB8AC3E}">
        <p14:creationId xmlns:p14="http://schemas.microsoft.com/office/powerpoint/2010/main" val="6272459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6F21B-7691-4C6B-9941-4C678F59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Pipeline de preprocesamiento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E688BA-380A-457A-AD9D-A5B4EC2E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09625" y="1428750"/>
          <a:ext xmlns:a="http://schemas.openxmlformats.org/drawingml/2006/main" cx="105727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476750"/>
                <a:gridCol w="4000500"/>
              </a:tblGrid>
              <a:tr h="714375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Grupo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Variables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Transformación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Numéricas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tenure, MonthlyCharges, TotalCharges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Mediana y StandardScaler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Categóricas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Variables de tipo texto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One-Hot Encoding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Binaria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SeniorCitizen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0/1 convertido a No/Yes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FC581-6C36-41F8-8578-2ED4F7DD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ColumnTransformer aplica cada tratamiento a las columnas correspondientes.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D3483-CCCB-46BC-ABF8-C79365A8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8162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El pipeline ajusta la imputación y el escalado sólo con el conjunto de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16454978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F8277-A25D-4124-8604-BBB1493C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Modelos comparados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AC9F95-5C04-4828-980D-946D8B70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09625" y="1381125"/>
          <a:ext xmlns:a="http://schemas.openxmlformats.org/drawingml/2006/main" cx="1057275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334000"/>
                <a:gridCol w="3238500"/>
              </a:tblGrid>
              <a:tr h="738188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Familia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Configuración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Función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Baseline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DummyClassifier, strategy=prior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Referencia mínima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Lineal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Regresión Logística balanceada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Prioriza la clase minoritaria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738188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Árbol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Random Forest, 100 árboles, profundidad 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Alternativa no lineal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AD79F-BD92-49B4-9F33-5AC1230A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905375"/>
            <a:ext cx="9810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Los tres modelos usan el mismo preprocesamiento y la misma partición.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1ADE6-E6A9-4287-8FB1-8BA6F1AA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476875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Recall es la métrica principal porque un falso negativo deja sin identificar a un cliente que abandona.</a:t>
            </a:r>
          </a:p>
        </p:txBody>
      </p:sp>
    </p:spTree>
    <p:extLst>
      <p:ext uri="{BB962C8B-B14F-4D97-AF65-F5344CB8AC3E}">
        <p14:creationId xmlns:p14="http://schemas.microsoft.com/office/powerpoint/2010/main" val="8299686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092B85-B40B-46F1-A564-33C5DC13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Comparación de resultados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7690C-207E-4496-8F5D-DE352CDC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19125" y="1381125"/>
          <a:ext xmlns:a="http://schemas.openxmlformats.org/drawingml/2006/main" cx="7524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5864b45fb9b481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66EBB1-B079-496E-BE34-41E2EFE7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762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Candidata inicial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4EF3A-4675-456E-AEE8-0FE47AE9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Regresión</a:t>
            </a:r>
          </a:p>
          <a:p xmlns:a="http://schemas.openxmlformats.org/drawingml/2006/main">
            <a:pPr algn="ctr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Logística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8923D1-DEF9-40A4-95EA-8D5F661E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476625"/>
            <a:ext cx="2286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Recall 0,72</a:t>
            </a:r>
          </a:p>
          <a:p xmlns:a="http://schemas.openxmlformats.org/drawingml/2006/main">
            <a:pPr algn="ctr">
              <a:defRPr sz="202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F1 0,58</a:t>
            </a:r>
          </a:p>
          <a:p xmlns:a="http://schemas.openxmlformats.org/drawingml/2006/main">
            <a:pPr algn="ctr">
              <a:defRPr sz="2025" b="0">
                <a:solidFill>
                  <a:srgbClr val="202B38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202B38"/>
                </a:solidFill>
                <a:latin typeface="Aptos"/>
                <a:ea typeface="Aptos"/>
                <a:cs typeface="Aptos"/>
              </a:rPr>
              <a:t>ROC-AUC 0,81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D023F7-96E1-480B-9A7A-5B1A7E20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53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Mayor detección de churn entre los modelos evaluados</a:t>
            </a:r>
          </a:p>
        </p:txBody>
      </p:sp>
    </p:spTree>
    <p:extLst>
      <p:ext uri="{BB962C8B-B14F-4D97-AF65-F5344CB8AC3E}">
        <p14:creationId xmlns:p14="http://schemas.microsoft.com/office/powerpoint/2010/main" val="2312165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43E412-43C3-43F7-B643-45EAF021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Modelo candidato inicial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2E4D9-C02A-4C32-AA30-236FD34C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3359D-07CA-40CE-92ED-6685D298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4300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Regresión Logística balanceada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1143000" y="2095500"/>
          <a:ext xmlns:a="http://schemas.openxmlformats.org/drawingml/2006/main" cx="581025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1714500"/>
                <a:gridCol w="1714500"/>
              </a:tblGrid>
              <a:tr h="79375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Real / Predicho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No churn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Churn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79375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No churn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747 TN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290 FP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9375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Churn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103 FN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269 TP</a:t>
                      </a:r>
                    </a:p>
                  </a:txBody>
                  <a:tcPr marL="91440" marR="91440" marT="45720" marB="45720" anchor="ctr">
                    <a:solidFill>
                      <a:srgbClr val="E2F2E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B93E3-3694-4113-87A9-CE9E38C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2D879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2D8794"/>
                </a:solidFill>
                <a:latin typeface="Aptos"/>
                <a:ea typeface="Aptos"/>
                <a:cs typeface="Aptos"/>
              </a:rPr>
              <a:t>0,72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A6F94-0252-4D3C-B234-06B9CBB4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27EF5-4576-402E-BCC5-68444C04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81375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269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38D22-1754-48AB-92DA-553C5173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abandonos detectados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089F7-B1BD-4AFB-95EE-653FDB5F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38750"/>
            <a:ext cx="9810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La conclusión corresponde a una sola partición train/test y todavía no incluye validación cruzada ni ajuste del umbral.</a:t>
            </a:r>
          </a:p>
        </p:txBody>
      </p:sp>
    </p:spTree>
    <p:extLst>
      <p:ext uri="{BB962C8B-B14F-4D97-AF65-F5344CB8AC3E}">
        <p14:creationId xmlns:p14="http://schemas.microsoft.com/office/powerpoint/2010/main" val="5865162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D97DB-CF15-4F0D-8712-E4F772F2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Requisitos presentes en el repositorio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F1A92-1396-409B-BF01-DE97735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66750" y="1162050"/>
          <a:ext xmlns:a="http://schemas.openxmlformats.org/drawingml/2006/main" cx="108585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6858000"/>
              </a:tblGrid>
              <a:tr h="485775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Requisito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Evidencia actual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GitHub, README y requirements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Repositorio compartido y dependencias declaradas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EDA razonable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Dimensiones, tipos, faltantes, target y relaciones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Partición reproducible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80/20 estratificado con random_state=42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Pipeline de scikit-learn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ColumnTransformer dentro de Pipeline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Tres alternativas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Dummy, Regresión Logística y Random Forest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Entrenamiento desde Python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src/training/train.py ejecutable como módulo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Pruebas automáticas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Métricas y preprocesamiento comprobados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Dataset rastreado con DVC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Archivo .dvc y cache local verificados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Remote DVC configurado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DagsHub: giselle.san/entregaPrimerParcial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51312-769F-4861-82B4-9553AD5E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115050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D5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7D55"/>
                </a:solidFill>
                <a:latin typeface="Aptos"/>
                <a:ea typeface="Aptos"/>
                <a:cs typeface="Aptos"/>
              </a:rPr>
              <a:t>El notebook conserva el análisis y src contiene la lógica reutilizable.</a:t>
            </a:r>
          </a:p>
        </p:txBody>
      </p:sp>
    </p:spTree>
    <p:extLst>
      <p:ext uri="{BB962C8B-B14F-4D97-AF65-F5344CB8AC3E}">
        <p14:creationId xmlns:p14="http://schemas.microsoft.com/office/powerpoint/2010/main" val="15180223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C4D83-0900-4AA1-9A18-AE1E6FE7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3A63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83A63"/>
                </a:solidFill>
                <a:latin typeface="Aptos"/>
                <a:ea typeface="Aptos"/>
                <a:cs typeface="Aptos"/>
              </a:rPr>
              <a:t>Requisitos pendientes para el 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B5AF4-989D-4625-85BE-599AFC54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381750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857250" y="1381125"/>
          <a:ext xmlns:a="http://schemas.openxmlformats.org/drawingml/2006/main" cx="1047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0"/>
                <a:gridCol w="3619500"/>
              </a:tblGrid>
              <a:tr h="603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Requisito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Estado</a:t>
                      </a:r>
                    </a:p>
                  </a:txBody>
                  <a:tcPr marL="91440" marR="91440" marT="45720" marB="45720" anchor="ctr">
                    <a:solidFill>
                      <a:srgbClr val="183A63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Autenticación DVC y dvc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Renovar token local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Seis corridas relevantes en MLflow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Pendiente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Modelo candidato en Model Registry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Pendiente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Tag entrega-1 sobre el commit presentado</a:t>
                      </a:r>
                    </a:p>
                  </a:txBody>
                  <a:tcPr marL="91440" marR="91440" marT="45720" marB="45720" anchor="ctr"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Pendiente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02B38"/>
                          </a:solidFill>
                          <a:latin typeface="Aptos"/>
                          <a:ea typeface="Aptos"/>
                          <a:cs typeface="Aptos"/>
                        </a:rPr>
                        <a:t>Reproducción completa desde una segunda copia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A66A17"/>
                          </a:solidFill>
                          <a:latin typeface="Aptos"/>
                          <a:ea typeface="Aptos"/>
                          <a:cs typeface="Aptos"/>
                        </a:rPr>
                        <a:t>Pendiente</a:t>
                      </a:r>
                    </a:p>
                  </a:txBody>
                  <a:tcPr marL="91440" marR="91440" marT="45720" marB="45720" anchor="ctr">
                    <a:solidFill>
                      <a:srgbClr val="FFF1D8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94882-0A67-4196-AAB9-957B1125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8162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A66A1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A66A17"/>
                </a:solidFill>
                <a:latin typeface="Aptos"/>
                <a:ea typeface="Aptos"/>
                <a:cs typeface="Aptos"/>
              </a:rPr>
              <a:t>La trazabilidad quedará completa al validar DVC, registrar las corridas y vincular el modelo candidato.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173AD-C0AB-4A29-8A44-2328BD7C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604837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7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78"/>
                </a:solidFill>
                <a:latin typeface="Aptos"/>
                <a:ea typeface="Aptos"/>
                <a:cs typeface="Aptos"/>
              </a:rPr>
              <a:t>github.com/alfonsinadiaz/customer-churn-ml</a:t>
            </a:r>
          </a:p>
        </p:txBody>
      </p:sp>
    </p:spTree>
    <p:extLst>
      <p:ext uri="{BB962C8B-B14F-4D97-AF65-F5344CB8AC3E}">
        <p14:creationId xmlns:p14="http://schemas.microsoft.com/office/powerpoint/2010/main" val="12463898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2026-09-18T16:03:52.0110000Z</dcterms:created>
  <dcterms:modified xsi:type="dcterms:W3CDTF">2026-09-18T16:03:52.0110000Z</dcterms:modified>
</coreProperties>
</file>
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4faa3f7f44ac7" /><Relationship Type="http://schemas.openxmlformats.org/officeDocument/2006/relationships/extended-properties" Target="/docProps/app.xml" Id="Rf1e0e6a30dd341ed" /><Relationship Type="http://schemas.openxmlformats.org/officeDocument/2006/relationships/officeDocument" Target="/ppt/presentation.xml" Id="R49979148aaa9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d6ff8d3b843ed"/>
  </p:sldMasterIdLst>
  <p:notesMasterIdLst>
    <p:notesMasterId xmlns:r="http://schemas.openxmlformats.org/officeDocument/2006/relationships" r:id="Rc257b01811f14c6c"/>
  </p:notesMasterIdLst>
  <p:sldIdLst>
    <p:sldId xmlns:r="http://schemas.openxmlformats.org/officeDocument/2006/relationships" id="256" r:id="R9c412984d2374443"/>
    <p:sldId xmlns:r="http://schemas.openxmlformats.org/officeDocument/2006/relationships" id="257" r:id="Ra4873508bb5b4c43"/>
    <p:sldId xmlns:r="http://schemas.openxmlformats.org/officeDocument/2006/relationships" id="258" r:id="Rb6b898c41bf84c72"/>
    <p:sldId xmlns:r="http://schemas.openxmlformats.org/officeDocument/2006/relationships" id="259" r:id="R79a7adcda1e84b63"/>
    <p:sldId xmlns:r="http://schemas.openxmlformats.org/officeDocument/2006/relationships" id="260" r:id="R496c70d12f6e4d41"/>
    <p:sldId xmlns:r="http://schemas.openxmlformats.org/officeDocument/2006/relationships" id="261" r:id="Rf22ae07d524f45d9"/>
    <p:sldId xmlns:r="http://schemas.openxmlformats.org/officeDocument/2006/relationships" id="262" r:id="R1e8fc442cfaa4793"/>
    <p:sldId xmlns:r="http://schemas.openxmlformats.org/officeDocument/2006/relationships" id="263" r:id="R2e3bbe37c116484a"/>
    <p:sldId xmlns:r="http://schemas.openxmlformats.org/officeDocument/2006/relationships" id="264" r:id="R9e37efbe0cd84c63"/>
    <p:sldId xmlns:r="http://schemas.openxmlformats.org/officeDocument/2006/relationships" id="265" r:id="R40fb0a44ce454f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3bcb86c6214cd0" /><Relationship Type="http://schemas.openxmlformats.org/officeDocument/2006/relationships/slideMaster" Target="/ppt/slideMasters/slideMaster1.xml" Id="R6bdd6ff8d3b843ed" /><Relationship Type="http://schemas.openxmlformats.org/officeDocument/2006/relationships/notesMaster" Target="/ppt/notesMasters/notesMaster1.xml" Id="Rc257b01811f14c6c" /><Relationship Type="http://schemas.openxmlformats.org/officeDocument/2006/relationships/presProps" Target="/ppt/presProps.xml" Id="R528e19e2fc3b4446" /><Relationship Type="http://schemas.openxmlformats.org/officeDocument/2006/relationships/tableStyles" Target="/ppt/tableStyles.xml" Id="Redcd8aae086e4c28" /><Relationship Type="http://schemas.openxmlformats.org/officeDocument/2006/relationships/slide" Target="/ppt/slides/slide1.xml" Id="R9c412984d2374443" /><Relationship Type="http://schemas.openxmlformats.org/officeDocument/2006/relationships/slide" Target="/ppt/slides/slide2.xml" Id="Ra4873508bb5b4c43" /><Relationship Type="http://schemas.openxmlformats.org/officeDocument/2006/relationships/slide" Target="/ppt/slides/slide3.xml" Id="Rb6b898c41bf84c72" /><Relationship Type="http://schemas.openxmlformats.org/officeDocument/2006/relationships/slide" Target="/ppt/slides/slide4.xml" Id="R79a7adcda1e84b63" /><Relationship Type="http://schemas.openxmlformats.org/officeDocument/2006/relationships/slide" Target="/ppt/slides/slide5.xml" Id="R496c70d12f6e4d41" /><Relationship Type="http://schemas.openxmlformats.org/officeDocument/2006/relationships/slide" Target="/ppt/slides/slide6.xml" Id="Rf22ae07d524f45d9" /><Relationship Type="http://schemas.openxmlformats.org/officeDocument/2006/relationships/slide" Target="/ppt/slides/slide7.xml" Id="R1e8fc442cfaa4793" /><Relationship Type="http://schemas.openxmlformats.org/officeDocument/2006/relationships/slide" Target="/ppt/slides/slide8.xml" Id="R2e3bbe37c116484a" /><Relationship Type="http://schemas.openxmlformats.org/officeDocument/2006/relationships/slide" Target="/ppt/slides/slide9.xml" Id="R9e37efbe0cd84c63" /><Relationship Type="http://schemas.openxmlformats.org/officeDocument/2006/relationships/slide" Target="/ppt/slides/slide10.xml" Id="R40fb0a44ce454f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32ad8345b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999163b544be0" /><Relationship Type="http://schemas.openxmlformats.org/officeDocument/2006/relationships/notesMaster" Target="/ppt/notesMasters/notesMaster1.xml" Id="Raf33f8b36dd4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87b03ad2940ab" /><Relationship Type="http://schemas.openxmlformats.org/officeDocument/2006/relationships/notesMaster" Target="/ppt/notesMasters/notesMaster1.xml" Id="Rb2c9db7a3d4943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3fd5250c440aa" /><Relationship Type="http://schemas.openxmlformats.org/officeDocument/2006/relationships/notesMaster" Target="/ppt/notesMasters/notesMaster1.xml" Id="R670af08ffa864a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6fe13ee0b24e93" /><Relationship Type="http://schemas.openxmlformats.org/officeDocument/2006/relationships/notesMaster" Target="/ppt/notesMasters/notesMaster1.xml" Id="R073f6fd7e65441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a327cbeeef4d07" /><Relationship Type="http://schemas.openxmlformats.org/officeDocument/2006/relationships/notesMaster" Target="/ppt/notesMasters/notesMaster1.xml" Id="R0282e7a0c79c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e3ede90b0040c4" /><Relationship Type="http://schemas.openxmlformats.org/officeDocument/2006/relationships/notesMaster" Target="/ppt/notesMasters/notesMaster1.xml" Id="R1cbf35bf5c7a4f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117cde46048b8" /><Relationship Type="http://schemas.openxmlformats.org/officeDocument/2006/relationships/notesMaster" Target="/ppt/notesMasters/notesMaster1.xml" Id="Rf66364c6f0b948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6f7d16caa74b8f" /><Relationship Type="http://schemas.openxmlformats.org/officeDocument/2006/relationships/notesMaster" Target="/ppt/notesMasters/notesMaster1.xml" Id="R3c6ce2e96b3f44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4af2cde5ef480e" /><Relationship Type="http://schemas.openxmlformats.org/officeDocument/2006/relationships/notesMaster" Target="/ppt/notesMasters/notesMaster1.xml" Id="Rcb9eec5d3436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b0aa1d7f0b4f32" /><Relationship Type="http://schemas.openxmlformats.org/officeDocument/2006/relationships/notesMaster" Target="/ppt/notesMasters/notesMaster1.xml" Id="Rfd586f51278141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repositorio customer-churn-ml y notebook notebooks/01_eda_y_modelos.ipynb.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salida del EDA guardada en el notebook. Dimensiones 7043 x 21, churn 26,37 % y 26 faltantes en TotalCharges.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secciones de análisis bivariado y conclusiones del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celda de partición train/test del notebook. test_size=0.2, stratify=y y random_state=42.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sección Pipeline de Preprocesamiento del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secciones 9.1, 9.2 y 9.3 del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tabla df_resultados del notebook. Valores redondeados a dos decimales.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interpretación de la matriz de confusión de Regresión Logística en el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requisitos del primer parcial y contenido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comparación entre la consigna del parcial y el contenido del repositorio al momento de preparar la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4e9a19413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e74fcd2934747" /><Relationship Type="http://schemas.openxmlformats.org/officeDocument/2006/relationships/slideLayout" Target="/ppt/slideLayouts/slideLayout1.xml" Id="R04cc97999abe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c97999abe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9828ad6346b1" /><Relationship Type="http://schemas.openxmlformats.org/officeDocument/2006/relationships/notesSlide" Target="/ppt/notesSlides/notesSlide1.xml" Id="Rfca2bc290ae44e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6e4f7f79a46dc" /><Relationship Type="http://schemas.openxmlformats.org/officeDocument/2006/relationships/notesSlide" Target="/ppt/notesSlides/notesSlide2.xml" Id="Rad60c2655749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199bc13ca48c0" /><Relationship Type="http://schemas.openxmlformats.org/officeDocument/2006/relationships/notesSlide" Target="/ppt/notesSlides/notesSlide3.xml" Id="Rde3f0d9d22ed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8e3ff104425e" /><Relationship Type="http://schemas.openxmlformats.org/officeDocument/2006/relationships/notesSlide" Target="/ppt/notesSlides/notesSlide4.xml" Id="R685041fb3cb5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cde97ade4c43" /><Relationship Type="http://schemas.openxmlformats.org/officeDocument/2006/relationships/notesSlide" Target="/ppt/notesSlides/notesSlide5.xml" Id="Rc6f3608a511144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a76ede6524b56" /><Relationship Type="http://schemas.openxmlformats.org/officeDocument/2006/relationships/notesSlide" Target="/ppt/notesSlides/notesSlide6.xml" Id="Rea90dc129c544f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22f98d314f74" /><Relationship Type="http://schemas.openxmlformats.org/officeDocument/2006/relationships/chart" Target="/ppt/slides/charts/chart1.xml" Id="Re98b42bf79374cad" /><Relationship Type="http://schemas.openxmlformats.org/officeDocument/2006/relationships/notesSlide" Target="/ppt/notesSlides/notesSlide7.xml" Id="Rc6bee428c1a046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9a3236e34a83" /><Relationship Type="http://schemas.openxmlformats.org/officeDocument/2006/relationships/notesSlide" Target="/ppt/notesSlides/notesSlide8.xml" Id="R098b1ad5202949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c9d47e47940de" /><Relationship Type="http://schemas.openxmlformats.org/officeDocument/2006/relationships/notesSlide" Target="/ppt/notesSlides/notesSlide9.xml" Id="Rb9b368a377c742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9d4f409e41c5" /><Relationship Type="http://schemas.openxmlformats.org/officeDocument/2006/relationships/notesSlide" Target="/ppt/notesSlides/notesSlide10.xml" Id="Rde68989df85541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2D8794"/>
            </a:solidFill>
          </c:spPr>
          <c:cat>
            <c:strRef>
              <c:f>'Chart Data'!$A$2:$A$4</c:f>
              <c:strCache>
                <c:ptCount val="3"/>
                <c:pt idx="0">
                  <c:v>Dummy</c:v>
                </c:pt>
                <c:pt idx="1">
                  <c:v>Regresión Logística</c:v>
                </c:pt>
                <c:pt idx="2">
                  <c:v>Random Forest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0.72</c:v>
                </c:pt>
                <c:pt idx="2">
                  <c:v>0.61</c:v>
                </c:pt>
              </c:numCache>
            </c:numRef>
          </c:val>
        </c:ser>
        <c:ser>
          <c:idx val="1"/>
          <c:order val="1"/>
          <c:tx>
            <c:v>F1</c:v>
          </c:tx>
          <c:spPr>
            <a:solidFill xmlns:a="http://schemas.openxmlformats.org/drawingml/2006/main">
              <a:srgbClr val="5487C2"/>
            </a:solidFill>
          </c:spPr>
          <c:cat>
            <c:strRef>
              <c:f>'Chart Data'!$C$2:$C$4</c:f>
              <c:strCache>
                <c:ptCount val="3"/>
                <c:pt idx="0">
                  <c:v>Dummy</c:v>
                </c:pt>
                <c:pt idx="1">
                  <c:v>Regresión Logística</c:v>
                </c:pt>
                <c:pt idx="2">
                  <c:v>Random Forest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0.58</c:v>
                </c:pt>
                <c:pt idx="2">
                  <c:v>0.57</c:v>
                </c:pt>
              </c:numCache>
            </c:numRef>
          </c:val>
        </c:ser>
        <c:ser>
          <c:idx val="2"/>
          <c:order val="2"/>
          <c:tx>
            <c:v>ROC-AUC</c:v>
          </c:tx>
          <c:spPr>
            <a:solidFill xmlns:a="http://schemas.openxmlformats.org/drawingml/2006/main">
              <a:srgbClr val="183A63"/>
            </a:solidFill>
          </c:spPr>
          <c:cat>
            <c:strRef>
              <c:f>'Chart Data'!$E$2:$E$4</c:f>
              <c:strCache>
                <c:ptCount val="3"/>
                <c:pt idx="0">
                  <c:v>Dummy</c:v>
                </c:pt>
                <c:pt idx="1">
                  <c:v>Regresión Logística</c:v>
                </c:pt>
                <c:pt idx="2">
                  <c:v>Random Forest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0.5</c:v>
                </c:pt>
                <c:pt idx="1">
                  <c:v>0.81</c:v>
                </c:pt>
                <c:pt idx="2">
                  <c:v>0.8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A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0E272-F993-465E-A0F0-CBDA57EE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40A5A-0CBC-4166-BCBD-01A237D7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4EF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D8E4EF"/>
                </a:solidFill>
                <a:latin typeface="Aptos"/>
                <a:ea typeface="Aptos"/>
                <a:cs typeface="Aptos"/>
              </a:rPr>
              <a:t>Entrega 1 · Primer Parcial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EB1F7-F943-4D82-A07E-3DA1F63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ED0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ED0E1"/>
                </a:solidFill>
                <a:latin typeface="Aptos"/>
                <a:ea typeface="Aptos"/>
                <a:cs typeface="Aptos"/>
              </a:rPr>
              <a:t>Laboratorio de Minería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03ABC-7D84-462F-B5D5-C0B5C07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EDA, preprocesamiento y comparación inicial de modelos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8A56B-ABE8-42AE-9BFF-CB7EC23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D0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ED0E1"/>
                </a:solidFill>
                <a:latin typeface="Aptos"/>
                <a:ea typeface="Aptos"/>
                <a:cs typeface="Aptos"/>
              </a:rPr>
              <a:t>github.com/alfonsinadiaz/customer-churn-ml</a:t>
            </a:r>
          </a:p>
        </p:txBody>
      </p:sp>
    </p:spTree>
    <p:extLst>
      <p:ext uri="{BB962C8B-B14F-4D97-AF65-F5344CB8AC3E}">
        <p14:creationId xmlns:p14="http://schemas.microsoft.com/office/powerpoint/2010/main" val="1600567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A5C82-8494-44B7-BF39-4D9D3B21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Objetivo y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C8BB7-E89C-4EDE-86D1-1E7C5F24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4870F-4F9B-4732-A781-8D0A0B09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EC78B-AB50-4DE7-80E7-4F171990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Identificar clientes con riesgo de abandonar el servicio para orientar acciones de retención.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74FE2-3762-47DF-930E-AA4DBB5E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7.043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036B9-7523-461E-908B-F723ED6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clientes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63EEF-003D-400E-B5B9-8D112932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D7157-809F-4A4E-8DF7-06E6FBC8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columnas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ACB1F-306A-4D75-8EA4-0D1A932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487C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5487C2"/>
                </a:solidFill>
                <a:latin typeface="Aptos"/>
                <a:ea typeface="Aptos"/>
                <a:cs typeface="Aptos"/>
              </a:rPr>
              <a:t>26,37 %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34299-689A-4608-B6F9-4A6BC5B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tasa de churn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3DDE1-9A15-4126-AC22-162AC5B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66A1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A66A1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AF59C-15F2-47E8-9EFA-D572B42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faltantes en TotalCharges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B685E-D5B4-4350-9C64-ED8B577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customerID se excluye del entrenamiento porque identifica al cliente.</a:t>
            </a:r>
          </a:p>
        </p:txBody>
      </p:sp>
    </p:spTree>
    <p:extLst>
      <p:ext uri="{BB962C8B-B14F-4D97-AF65-F5344CB8AC3E}">
        <p14:creationId xmlns:p14="http://schemas.microsoft.com/office/powerpoint/2010/main" val="1504370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077A3-E9E9-4D8C-881B-CD443813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C0396-31E3-4D83-88C3-793F23DC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2DA0B-219E-4AEC-AF2C-5F182DD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3B89-A066-4AC3-8B04-49649B65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38,73 % de churn en contratos mes a mes</a:t>
            </a:r>
          </a:p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8,97 % en contratos de dos años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C4746-04CB-4ED6-8901-A553F07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Servicio de Internet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06812-4879-4B96-B11E-25FD3F6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40,25 % de churn con fibra óptica</a:t>
            </a:r>
          </a:p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19,97 % con DSL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CBB5E-EE4E-4E8B-8419-770636EC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Antigüedad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2F943-B531-42BF-846C-504005F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29,28 meses entre quienes abandonan</a:t>
            </a:r>
          </a:p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37,28 meses entre quienes permanecen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9ED63-84CD-4242-8B33-EE2D7711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Cargo mensual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85A7A-F7FE-44E2-A075-0255BB2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79,98 entre quienes abandonan</a:t>
            </a:r>
          </a:p>
          <a:p xmlns:a="http://schemas.openxmlformats.org/drawingml/2006/main">
            <a:pPr algn="l">
              <a:defRPr sz="1800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63,94 entre quienes permanecen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FB93D-ADE0-4AF3-880D-E36EDBC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Las relaciones observadas son descriptivas y no demuestran causalidad.</a:t>
            </a:r>
          </a:p>
        </p:txBody>
      </p:sp>
    </p:spTree>
    <p:extLst>
      <p:ext uri="{BB962C8B-B14F-4D97-AF65-F5344CB8AC3E}">
        <p14:creationId xmlns:p14="http://schemas.microsoft.com/office/powerpoint/2010/main" val="1894887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3B204-72CD-49D3-980C-4BA71527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Partición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74E78-CEBA-4593-9288-B5B653F8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E11B-932E-4DAE-861E-2EFAB93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80 %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065A3-2090-4F12-BE39-AD94351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Entrenamiento</a:t>
            </a:r>
          </a:p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5.634 clientes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797AE-832D-4050-B227-C9F2E91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20 %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7825C-0D85-4883-9EC1-C3AFF7E9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Test</a:t>
            </a:r>
          </a:p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1.409 clientes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ADEA7-9A63-409C-8FBF-31C6F4D9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487C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5487C2"/>
                </a:solidFill>
                <a:latin typeface="Aptos"/>
                <a:ea typeface="Aptos"/>
                <a:cs typeface="Aptos"/>
              </a:rPr>
              <a:t>26,36 %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2FBE9-FC65-4588-B526-299987B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churn en train</a:t>
            </a:r>
          </a:p>
          <a:p xmlns:a="http://schemas.openxmlformats.org/drawingml/2006/main">
            <a:pPr algn="ctr">
              <a:defRPr sz="187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26,40 % en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A134B-2D20-4E45-BDBC-132BB4B6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La estratificación conserva la proporción de la clase positiva.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828DB-1AA0-4866-9AFE-8A35247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random_state = 42 permite repetir exactamente la separación.</a:t>
            </a:r>
          </a:p>
        </p:txBody>
      </p:sp>
    </p:spTree>
    <p:extLst>
      <p:ext uri="{BB962C8B-B14F-4D97-AF65-F5344CB8AC3E}">
        <p14:creationId xmlns:p14="http://schemas.microsoft.com/office/powerpoint/2010/main" val="1750819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C41A6-CA29-4BFE-8845-3122E5EB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Pipeline de preprocesamiento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798A-2668-4FBD-9A53-6FBE700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428750"/>
          <a:ext xmlns:a="http://schemas.openxmlformats.org/drawingml/2006/main" cx="10572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Grupo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Variables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Transformación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Numéricas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tenure, MonthlyCharges, TotalCharges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Mediana y StandardScaler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Categóricas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Variables de tipo texto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One-Hot Encoding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Binaria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SeniorCitizen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0/1 convertido a No/Yes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40481-CA71-4772-98C0-5EA16331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ColumnTransformer aplica cada tratamiento a las columnas correspondientes.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D4744-263C-4246-AEA9-0A3438D4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El pipeline ajusta la imputación y el escalado sólo con el conjunto de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1166030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FBCA3-8248-449B-80B8-FC31950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Modelos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AA7A-133F-402F-8CED-E06DCBAD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10572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334000"/>
                <a:gridCol w="3238500"/>
              </a:tblGrid>
              <a:tr h="7381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Familia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Configuración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Función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DummyClassifier, strategy=prior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Referencia mínima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Lineal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Regresión Logística balanceada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Prioriza la clase minoritaria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Árbol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Random Forest, 100 árboles, profundidad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Alternativa no lineal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72BAB-A74A-45BA-96C6-9402E162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Los tres modelos usan el mismo preprocesamiento y la misma partición.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3A8C2-01D7-4BEE-B979-55F3A3C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Recall es la métrica principal porque un falso negativo deja sin identificar a un cliente que abandona.</a:t>
            </a:r>
          </a:p>
        </p:txBody>
      </p:sp>
    </p:spTree>
    <p:extLst>
      <p:ext uri="{BB962C8B-B14F-4D97-AF65-F5344CB8AC3E}">
        <p14:creationId xmlns:p14="http://schemas.microsoft.com/office/powerpoint/2010/main" val="1788330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B7FE-9233-49B4-93EE-F3849D3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Comparación de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B2628-14C3-441C-B8D2-CE058FA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7524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8b42bf79374ca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72849-CACA-4C39-83E6-EBD6DE1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Candidata inicial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D489A-746D-412E-A3C6-42CC288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Regresión</a:t>
            </a:r>
          </a:p>
          <a:p xmlns:a="http://schemas.openxmlformats.org/drawingml/2006/main">
            <a:pPr algn="ctr">
              <a:defRPr sz="27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Logística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16EC9-CF2E-4BC5-B6CF-D97903C9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Recall 0,72</a:t>
            </a:r>
          </a:p>
          <a:p xmlns:a="http://schemas.openxmlformats.org/drawingml/2006/main">
            <a:pPr algn="ctr">
              <a:defRPr sz="202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F1 0,58</a:t>
            </a:r>
          </a:p>
          <a:p xmlns:a="http://schemas.openxmlformats.org/drawingml/2006/main">
            <a:pPr algn="ctr">
              <a:defRPr sz="2025" b="0">
                <a:solidFill>
                  <a:srgbClr val="202B38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02B38"/>
                </a:solidFill>
                <a:latin typeface="Aptos"/>
                <a:ea typeface="Aptos"/>
                <a:cs typeface="Aptos"/>
              </a:rPr>
              <a:t>ROC-AUC 0,81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A5340-399A-40FB-AA7E-BD3BB93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53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Mayor detección de churn entre los modelos evaluados</a:t>
            </a:r>
          </a:p>
        </p:txBody>
      </p:sp>
    </p:spTree>
    <p:extLst>
      <p:ext uri="{BB962C8B-B14F-4D97-AF65-F5344CB8AC3E}">
        <p14:creationId xmlns:p14="http://schemas.microsoft.com/office/powerpoint/2010/main" val="246511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5ECC3-1FAA-4F60-B611-EAE9971F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Modelo candidato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9FA12-E140-4899-9D02-563B44E2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12B12-BC5A-417E-8A9C-758336A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Regresión Logística balanceada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143000" y="2095500"/>
          <a:ext xmlns:a="http://schemas.openxmlformats.org/drawingml/2006/main" cx="58102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714500"/>
                <a:gridCol w="1714500"/>
              </a:tblGrid>
              <a:tr h="793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Real / Predicho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 churn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Churn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No churn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747 TN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290 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Churn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103 FN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269 TP</a:t>
                      </a:r>
                    </a:p>
                  </a:txBody>
                  <a:tcPr marL="91440" marR="91440" marT="45720" marB="45720" anchor="ctr">
                    <a:solidFill>
                      <a:srgbClr val="E2F2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F7B04-A9F0-41A5-826F-FCC0596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D879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D8794"/>
                </a:solidFill>
                <a:latin typeface="Aptos"/>
                <a:ea typeface="Aptos"/>
                <a:cs typeface="Aptos"/>
              </a:rPr>
              <a:t>0,72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89D4E-CF5A-4124-B54C-E8B02C7B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174A8-2890-4936-A6AC-5329431F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269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58739-8E2C-41B2-90BD-7752495C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abandonos detectados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37DA7-9184-4C5A-8E1A-C2FD7D5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La conclusión corresponde a una sola partición train/test y todavía no incluye validación cruzada ni ajuste del umbral.</a:t>
            </a:r>
          </a:p>
        </p:txBody>
      </p:sp>
    </p:spTree>
    <p:extLst>
      <p:ext uri="{BB962C8B-B14F-4D97-AF65-F5344CB8AC3E}">
        <p14:creationId xmlns:p14="http://schemas.microsoft.com/office/powerpoint/2010/main" val="1869647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84EA5-C0AD-4E20-831A-7D327E0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Requisitos presentes en el repositorio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56096-57F3-44F1-A973-69AD5EC2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2382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858000"/>
              </a:tblGrid>
              <a:tr h="6395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Requisito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Evidencia actual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GitHub, README y requirements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Repositorio compartido y dependencias declaradas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EDA razonable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Dimensiones, tipos, faltantes, target y relaciones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Partición reproducible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80/20 estratificado con random_state=42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Pipeline de scikit-learn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ColumnTransformer dentro de Pipeline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Tres alternativas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Dummy, Regresión Logística y Random Forest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Selección justificada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Recall prioritario y métricas complementarias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2704E-E720-47CF-84E6-5D38CDD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Estos puntos pueden verificarse directamente en el notebook.</a:t>
            </a:r>
          </a:p>
        </p:txBody>
      </p:sp>
    </p:spTree>
    <p:extLst>
      <p:ext uri="{BB962C8B-B14F-4D97-AF65-F5344CB8AC3E}">
        <p14:creationId xmlns:p14="http://schemas.microsoft.com/office/powerpoint/2010/main" val="714015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E7F00-64A8-45D1-9ED5-EA471B7B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A63"/>
                </a:solidFill>
                <a:latin typeface="Aptos"/>
                <a:ea typeface="Aptos"/>
                <a:cs typeface="Aptos"/>
              </a:rPr>
              <a:t>Requisitos pendientes para el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A49F8-2798-46D1-8B12-A29E24E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12382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361950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Requisito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Estado</a:t>
                      </a:r>
                    </a:p>
                  </a:txBody>
                  <a:tcPr marL="91440" marR="91440" marT="45720" marB="45720" anchor="ctr">
                    <a:solidFill>
                      <a:srgbClr val="183A63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Dataset bajo DVC y remoto en DagsHub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Seis corridas relevantes en MLflow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Modelo candidato en Model Registry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Entrenamiento desde Python fuera del notebook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Tag entrega-1 sobre el commit presentado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02B38"/>
                          </a:solidFill>
                          <a:latin typeface="Aptos"/>
                          <a:ea typeface="Aptos"/>
                          <a:cs typeface="Aptos"/>
                        </a:rPr>
                        <a:t>Reproducción completa desde una segunda copia</a:t>
                      </a:r>
                    </a:p>
                  </a:txBody>
                  <a:tcPr marL="91440" marR="91440" marT="45720" marB="45720" anchor="ctr"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66A17"/>
                          </a:solidFill>
                          <a:latin typeface="Aptos"/>
                          <a:ea typeface="Aptos"/>
                          <a:cs typeface="Aptos"/>
                        </a:rPr>
                        <a:t>Pendiente</a:t>
                      </a:r>
                    </a:p>
                  </a:txBody>
                  <a:tcPr marL="91440" marR="91440" marT="45720" marB="45720" anchor="ctr">
                    <a:solidFill>
                      <a:srgbClr val="FFF1D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46E8-E2E1-4A94-A412-5F399941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66A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A17"/>
                </a:solidFill>
                <a:latin typeface="Aptos"/>
                <a:ea typeface="Aptos"/>
                <a:cs typeface="Aptos"/>
              </a:rPr>
              <a:t>La entrega todavía no permite reconstruir el origen de un modelo registrado.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6F24C-599A-4AAB-9F89-834D8C2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github.com/alfonsinadiaz/customer-churn-ml</a:t>
            </a:r>
          </a:p>
        </p:txBody>
      </p:sp>
    </p:spTree>
    <p:extLst>
      <p:ext uri="{BB962C8B-B14F-4D97-AF65-F5344CB8AC3E}">
        <p14:creationId xmlns:p14="http://schemas.microsoft.com/office/powerpoint/2010/main" val="39130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2026-09-16T12:53:44.9980000Z</dcterms:created>
  <dcterms:modified xsi:type="dcterms:W3CDTF">2026-09-16T12:53:44.9980000Z</dcterms:modified>
</coreProperties>
</file>
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e43a8a268741e0" /><Relationship Type="http://schemas.openxmlformats.org/officeDocument/2006/relationships/extended-properties" Target="/docProps/app.xml" Id="R1d8b85144b714433" /><Relationship Type="http://schemas.openxmlformats.org/officeDocument/2006/relationships/officeDocument" Target="/ppt/presentation.xml" Id="R614b521a0b9444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d306ddce6c4177"/>
  </p:sldMasterIdLst>
  <p:notesMasterIdLst>
    <p:notesMasterId xmlns:r="http://schemas.openxmlformats.org/officeDocument/2006/relationships" r:id="R94d0ab3397aa4cac"/>
  </p:notesMasterIdLst>
  <p:sldIdLst>
    <p:sldId xmlns:r="http://schemas.openxmlformats.org/officeDocument/2006/relationships" id="256" r:id="Rce5ea2d5b6a44943"/>
    <p:sldId xmlns:r="http://schemas.openxmlformats.org/officeDocument/2006/relationships" id="257" r:id="R6707963a5f2f41c8"/>
    <p:sldId xmlns:r="http://schemas.openxmlformats.org/officeDocument/2006/relationships" id="258" r:id="R2c1fa98f881c4df9"/>
    <p:sldId xmlns:r="http://schemas.openxmlformats.org/officeDocument/2006/relationships" id="259" r:id="Rd263ced642944bdb"/>
    <p:sldId xmlns:r="http://schemas.openxmlformats.org/officeDocument/2006/relationships" id="260" r:id="R35e11bc6120d4bc5"/>
    <p:sldId xmlns:r="http://schemas.openxmlformats.org/officeDocument/2006/relationships" id="261" r:id="Ra093d36e802444bf"/>
    <p:sldId xmlns:r="http://schemas.openxmlformats.org/officeDocument/2006/relationships" id="262" r:id="R5751410aed3a4b8e"/>
    <p:sldId xmlns:r="http://schemas.openxmlformats.org/officeDocument/2006/relationships" id="263" r:id="Rf001e941562f4e07"/>
    <p:sldId xmlns:r="http://schemas.openxmlformats.org/officeDocument/2006/relationships" id="264" r:id="R6657dd313a894d22"/>
    <p:sldId xmlns:r="http://schemas.openxmlformats.org/officeDocument/2006/relationships" id="265" r:id="Rac0d72c7cf5a43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bd8e7c58054840" /><Relationship Type="http://schemas.openxmlformats.org/officeDocument/2006/relationships/slideMaster" Target="/ppt/slideMasters/slideMaster1.xml" Id="R5ad306ddce6c4177" /><Relationship Type="http://schemas.openxmlformats.org/officeDocument/2006/relationships/notesMaster" Target="/ppt/notesMasters/notesMaster1.xml" Id="R94d0ab3397aa4cac" /><Relationship Type="http://schemas.openxmlformats.org/officeDocument/2006/relationships/presProps" Target="/ppt/presProps.xml" Id="R6dfc0a213daf40ed" /><Relationship Type="http://schemas.openxmlformats.org/officeDocument/2006/relationships/tableStyles" Target="/ppt/tableStyles.xml" Id="R15cb76a754ce43b0" /><Relationship Type="http://schemas.openxmlformats.org/officeDocument/2006/relationships/slide" Target="/ppt/slides/slide1.xml" Id="Rce5ea2d5b6a44943" /><Relationship Type="http://schemas.openxmlformats.org/officeDocument/2006/relationships/slide" Target="/ppt/slides/slide2.xml" Id="R6707963a5f2f41c8" /><Relationship Type="http://schemas.openxmlformats.org/officeDocument/2006/relationships/slide" Target="/ppt/slides/slide3.xml" Id="R2c1fa98f881c4df9" /><Relationship Type="http://schemas.openxmlformats.org/officeDocument/2006/relationships/slide" Target="/ppt/slides/slide4.xml" Id="Rd263ced642944bdb" /><Relationship Type="http://schemas.openxmlformats.org/officeDocument/2006/relationships/slide" Target="/ppt/slides/slide5.xml" Id="R35e11bc6120d4bc5" /><Relationship Type="http://schemas.openxmlformats.org/officeDocument/2006/relationships/slide" Target="/ppt/slides/slide6.xml" Id="Ra093d36e802444bf" /><Relationship Type="http://schemas.openxmlformats.org/officeDocument/2006/relationships/slide" Target="/ppt/slides/slide7.xml" Id="R5751410aed3a4b8e" /><Relationship Type="http://schemas.openxmlformats.org/officeDocument/2006/relationships/slide" Target="/ppt/slides/slide8.xml" Id="Rf001e941562f4e07" /><Relationship Type="http://schemas.openxmlformats.org/officeDocument/2006/relationships/slide" Target="/ppt/slides/slide9.xml" Id="R6657dd313a894d22" /><Relationship Type="http://schemas.openxmlformats.org/officeDocument/2006/relationships/slide" Target="/ppt/slides/slide10.xml" Id="Rac0d72c7cf5a43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aeff67917d44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4b5c9821364ec4" /><Relationship Type="http://schemas.openxmlformats.org/officeDocument/2006/relationships/notesMaster" Target="/ppt/notesMasters/notesMaster1.xml" Id="R7e6f00201dab4b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3608fd4ffc4268" /><Relationship Type="http://schemas.openxmlformats.org/officeDocument/2006/relationships/notesMaster" Target="/ppt/notesMasters/notesMaster1.xml" Id="R00294237279b46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d4f01ce4f64c3d" /><Relationship Type="http://schemas.openxmlformats.org/officeDocument/2006/relationships/notesMaster" Target="/ppt/notesMasters/notesMaster1.xml" Id="Re51cf278b1ad4a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e70aa81dcf4956" /><Relationship Type="http://schemas.openxmlformats.org/officeDocument/2006/relationships/notesMaster" Target="/ppt/notesMasters/notesMaster1.xml" Id="R1c2d9340f2cc48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56482433194d23" /><Relationship Type="http://schemas.openxmlformats.org/officeDocument/2006/relationships/notesMaster" Target="/ppt/notesMasters/notesMaster1.xml" Id="Re2486369ab1a47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c01950278644b7" /><Relationship Type="http://schemas.openxmlformats.org/officeDocument/2006/relationships/notesMaster" Target="/ppt/notesMasters/notesMaster1.xml" Id="R61bcfd03cd7343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cfec3ab0d14763" /><Relationship Type="http://schemas.openxmlformats.org/officeDocument/2006/relationships/notesMaster" Target="/ppt/notesMasters/notesMaster1.xml" Id="Recc2d472c73f42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4b8501260544fc" /><Relationship Type="http://schemas.openxmlformats.org/officeDocument/2006/relationships/notesMaster" Target="/ppt/notesMasters/notesMaster1.xml" Id="R726b3f3a110842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e7b2422b104d9d" /><Relationship Type="http://schemas.openxmlformats.org/officeDocument/2006/relationships/notesMaster" Target="/ppt/notesMasters/notesMaster1.xml" Id="R431a5becb29243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020cfb5af64059" /><Relationship Type="http://schemas.openxmlformats.org/officeDocument/2006/relationships/notesMaster" Target="/ppt/notesMasters/notesMaster1.xml" Id="Rb69b9c29ea584b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repositorio customer-churn-ml y notebook notebooks/01_eda_y_modelos.ipynb.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salida del EDA guardada en el notebook. Dimensiones 7043 x 21, churn 26,37 % y 26 faltantes en TotalCharges.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secciones de análisis bivariado y conclusiones del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src/training/train.py. Separación estratificada 60/20/20 con random_state=42.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sección Pipeline de Preprocesamiento del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lista model_candidates de src/training/train.py.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results/generated/experiment_results.csv generado por MLflow.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Run final cbc3cc5511bf4a5fae054191f097fe76 en DagsHub MLflow.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experimento customer-churn-entrega-1 en DagsHub MLflow.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comparación entre la consigna del parcial y el contenido del repositorio al momento de preparar la presentación.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fe83a7fad40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6a0d628ad04e0b" /><Relationship Type="http://schemas.openxmlformats.org/officeDocument/2006/relationships/slideLayout" Target="/ppt/slideLayouts/slideLayout1.xml" Id="R2677a6c7920241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77a6c7920241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fd760ee9142d0" /><Relationship Type="http://schemas.openxmlformats.org/officeDocument/2006/relationships/notesSlide" Target="/ppt/notesSlides/notesSlide1.xml" Id="R62fe6af5f1d142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806d2c28a466f" /><Relationship Type="http://schemas.openxmlformats.org/officeDocument/2006/relationships/notesSlide" Target="/ppt/notesSlides/notesSlide2.xml" Id="Rf11b72e41c914c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4efb798044ba2" /><Relationship Type="http://schemas.openxmlformats.org/officeDocument/2006/relationships/notesSlide" Target="/ppt/notesSlides/notesSlide3.xml" Id="R77e6c0b150b141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8806213694ab7" /><Relationship Type="http://schemas.openxmlformats.org/officeDocument/2006/relationships/notesSlide" Target="/ppt/notesSlides/notesSlide4.xml" Id="R8397217776594d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8c558b7d6f4942" /><Relationship Type="http://schemas.openxmlformats.org/officeDocument/2006/relationships/notesSlide" Target="/ppt/notesSlides/notesSlide5.xml" Id="Rf2589b429f3f4f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a52a3c9ac4d0a" /><Relationship Type="http://schemas.openxmlformats.org/officeDocument/2006/relationships/notesSlide" Target="/ppt/notesSlides/notesSlide6.xml" Id="R413cd245687242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bfa812cf94782" /><Relationship Type="http://schemas.openxmlformats.org/officeDocument/2006/relationships/chart" Target="/ppt/slides/charts/chart1.xml" Id="Rdf0c5ab76b9e4eab" /><Relationship Type="http://schemas.openxmlformats.org/officeDocument/2006/relationships/notesSlide" Target="/ppt/notesSlides/notesSlide7.xml" Id="Rda25ad9bae6c4c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10cdcfe9241c2" /><Relationship Type="http://schemas.openxmlformats.org/officeDocument/2006/relationships/notesSlide" Target="/ppt/notesSlides/notesSlide8.xml" Id="R012cc7a4db6648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7a958ebf24516" /><Relationship Type="http://schemas.openxmlformats.org/officeDocument/2006/relationships/notesSlide" Target="/ppt/notesSlides/notesSlide9.xml" Id="R5dbfd81fc58f45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b8c210b864ebc" /><Relationship Type="http://schemas.openxmlformats.org/officeDocument/2006/relationships/notesSlide" Target="/ppt/notesSlides/notesSlide10.xml" Id="R8c97d712d6044b7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Recall</c:v>
          </c:tx>
          <c:spPr>
            <a:solidFill xmlns:a="http://schemas.openxmlformats.org/drawingml/2006/main">
              <a:srgbClr val="2D8794"/>
            </a:solidFill>
          </c:spPr>
          <c:cat>
            <c:strRef>
              <c:f>'Chart Data'!$A$2:$A$7</c:f>
              <c:strCache>
                <c:ptCount val="6"/>
                <c:pt idx="0">
                  <c:v>Dummy</c:v>
                </c:pt>
                <c:pt idx="1">
                  <c:v>LogReg C0,5</c:v>
                </c:pt>
                <c:pt idx="2">
                  <c:v>LogReg C1</c:v>
                </c:pt>
                <c:pt idx="3">
                  <c:v>LogReg t0,35</c:v>
                </c:pt>
                <c:pt idx="4">
                  <c:v>RF prof. 5</c:v>
                </c:pt>
                <c:pt idx="5">
                  <c:v>RF prof. 10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0</c:v>
                </c:pt>
                <c:pt idx="1">
                  <c:v>0.768</c:v>
                </c:pt>
                <c:pt idx="2">
                  <c:v>0.771</c:v>
                </c:pt>
                <c:pt idx="3">
                  <c:v>0.887</c:v>
                </c:pt>
                <c:pt idx="4">
                  <c:v>0.784</c:v>
                </c:pt>
                <c:pt idx="5">
                  <c:v>0.717</c:v>
                </c:pt>
              </c:numCache>
            </c:numRef>
          </c:val>
        </c:ser>
        <c:ser>
          <c:idx val="1"/>
          <c:order val="1"/>
          <c:tx>
            <c:v>F1</c:v>
          </c:tx>
          <c:spPr>
            <a:solidFill xmlns:a="http://schemas.openxmlformats.org/drawingml/2006/main">
              <a:srgbClr val="5487C2"/>
            </a:solidFill>
          </c:spPr>
          <c:cat>
            <c:strRef>
              <c:f>'Chart Data'!$C$2:$C$7</c:f>
              <c:strCache>
                <c:ptCount val="6"/>
                <c:pt idx="0">
                  <c:v>Dummy</c:v>
                </c:pt>
                <c:pt idx="1">
                  <c:v>LogReg C0,5</c:v>
                </c:pt>
                <c:pt idx="2">
                  <c:v>LogReg C1</c:v>
                </c:pt>
                <c:pt idx="3">
                  <c:v>LogReg t0,35</c:v>
                </c:pt>
                <c:pt idx="4">
                  <c:v>RF prof. 5</c:v>
                </c:pt>
                <c:pt idx="5">
                  <c:v>RF prof. 10</c:v>
                </c:pt>
              </c:strCache>
            </c:str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0</c:v>
                </c:pt>
                <c:pt idx="1">
                  <c:v>0.603</c:v>
                </c:pt>
                <c:pt idx="2">
                  <c:v>0.603</c:v>
                </c:pt>
                <c:pt idx="3">
                  <c:v>0.573</c:v>
                </c:pt>
                <c:pt idx="4">
                  <c:v>0.583</c:v>
                </c:pt>
                <c:pt idx="5">
                  <c:v>0.6</c:v>
                </c:pt>
              </c:numCache>
            </c:numRef>
          </c:val>
        </c:ser>
        <c:ser>
          <c:idx val="2"/>
          <c:order val="2"/>
          <c:tx>
            <c:v>ROC-AUC</c:v>
          </c:tx>
          <c:spPr>
            <a:solidFill xmlns:a="http://schemas.openxmlformats.org/drawingml/2006/main">
              <a:srgbClr val="183A63"/>
            </a:solidFill>
          </c:spPr>
          <c:cat>
            <c:strRef>
              <c:f>'Chart Data'!$E$2:$E$7</c:f>
              <c:strCache>
                <c:ptCount val="6"/>
                <c:pt idx="0">
                  <c:v>Dummy</c:v>
                </c:pt>
                <c:pt idx="1">
                  <c:v>LogReg C0,5</c:v>
                </c:pt>
                <c:pt idx="2">
                  <c:v>LogReg C1</c:v>
                </c:pt>
                <c:pt idx="3">
                  <c:v>LogReg t0,35</c:v>
                </c:pt>
                <c:pt idx="4">
                  <c:v>RF prof. 5</c:v>
                </c:pt>
                <c:pt idx="5">
                  <c:v>RF prof. 10</c:v>
                </c:pt>
              </c:strCache>
            </c:strRef>
          </c:cat>
          <c:val>
            <c:numRef>
              <c:f>'Chart Data'!$F$2:$F$7</c:f>
              <c:numCache>
                <c:formatCode>General</c:formatCode>
                <c:ptCount val="6"/>
                <c:pt idx="0">
                  <c:v>0.5</c:v>
                </c:pt>
                <c:pt idx="1">
                  <c:v>0.821</c:v>
                </c:pt>
                <c:pt idx="2">
                  <c:v>0.821</c:v>
                </c:pt>
                <c:pt idx="3">
                  <c:v>0.821</c:v>
                </c:pt>
                <c:pt idx="4">
                  <c:v>0.804</c:v>
                </c:pt>
                <c:pt idx="5">
                  <c:v>0.807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A6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5AA1B-7CE4-4931-B7C7-CEA71303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857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Customer Churn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DACC3-DAF2-4C90-BCB3-8392AC62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D8E4EF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D8E4EF"/>
                </a:solidFill>
                <a:latin typeface="Aptos"/>
                <a:ea typeface="Aptos"/>
                <a:cs typeface="Aptos"/>
              </a:rPr>
              <a:t>Entrega 1 · Primer Parcial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B92414-4540-4178-B0E3-672EFEF5D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0375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ED0E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ED0E1"/>
                </a:solidFill>
                <a:latin typeface="Aptos"/>
                <a:ea typeface="Aptos"/>
                <a:cs typeface="Aptos"/>
              </a:rPr>
              <a:t>Laboratorio de Minería de Datos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2D5369-E08C-4004-8AA9-B752C9C1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EDA, preprocesamiento y comparación inicial de modelos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8A34C-652C-47F2-9F4E-846C50D2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ED0E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ED0E1"/>
                </a:solidFill>
                <a:latin typeface="Aptos"/>
                <a:ea typeface="Aptos"/>
                <a:cs typeface="Aptos"/>
              </a:rPr>
              <a:t>github.com/alfonsinadiaz/customer-churn-ml</a:t>
            </a:r>
          </a:p>
        </p:txBody>
      </p:sp>
    </p:spTree>
    <p:extLst>
      <p:ext uri="{BB962C8B-B14F-4D97-AF65-F5344CB8AC3E}">
        <p14:creationId xmlns:p14="http://schemas.microsoft.com/office/powerpoint/2010/main" val="14209987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B0D9B3-1E61-4FDF-AD2B-665B6202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Objetivo y dataset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533C7-4F02-4671-B724-F94EDDAC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416DB-F40E-45A4-BDC2-AD5634E5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906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Objetivo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ECEDD9-1925-4F75-BCE8-6895145A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Identificar clientes con riesgo de abandonar el servicio para orientar acciones de retención.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752D5-4E79-4BE1-A17A-790734EB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9875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7.043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3425E7-469B-47F7-8CEB-9162F102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290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CD3232-39F8-417E-816A-CAC95FEC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98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959FBA-E445-469A-9090-FC57175A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290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columnas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2DA4C-D7FA-41B0-BD34-5767D505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9875"/>
            <a:ext cx="228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5487C2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5487C2"/>
                </a:solidFill>
                <a:latin typeface="Aptos"/>
                <a:ea typeface="Aptos"/>
                <a:cs typeface="Aptos"/>
              </a:rPr>
              <a:t>26,37 %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0D700E-29F9-438C-8090-BDCBCE48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tasa de churn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E5C884-3BAA-437E-8122-A7D89086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0987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66A1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A66A17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C832E-5A13-47A0-8AFE-71D9A0CC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290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faltantes en TotalCharges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C49684-4B2E-4757-A64E-650F33F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0125"/>
            <a:ext cx="914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customerID se excluye del entrenamiento porque identifica al cliente.</a:t>
            </a:r>
          </a:p>
        </p:txBody>
      </p:sp>
    </p:spTree>
    <p:extLst>
      <p:ext uri="{BB962C8B-B14F-4D97-AF65-F5344CB8AC3E}">
        <p14:creationId xmlns:p14="http://schemas.microsoft.com/office/powerpoint/2010/main" val="5241789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C66DF-6E08-4AE7-AF0E-B5B9A666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Análisis exploratorio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3BF609-5CD8-4C42-B0B1-FABEA69E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B8840-9239-4F53-B702-107E44C7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335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Contrato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B51720-F355-48FC-9166-37BB2DA4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38,73 % de churn en contratos mes a mes</a:t>
            </a:r>
          </a:p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8,97 % en contratos de dos años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7C8CBF-21F5-4919-B6E4-2CFFC015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33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Servicio de Internet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0D5DA3-7DE4-4FCF-8D73-4AA66386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40,25 % de churn con fibra óptica</a:t>
            </a:r>
          </a:p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19,97 % con DSL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B89356-1EC3-4EB6-B7C8-3FDC0649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Antigüedad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86657B-0EFF-4FC3-8BE2-C62ADB07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29,28 meses entre quienes abandonan</a:t>
            </a:r>
          </a:p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37,28 meses entre quienes permanecen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382501-5529-43D5-BA78-0DCC31A0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Cargo mensual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BB6B03-12FE-4ABF-A71E-7165AC80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79,98 entre quienes abandonan</a:t>
            </a:r>
          </a:p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63,94 entre quienes permanecen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F7A44-D99D-4DBF-AEA1-8C8DE764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61975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Las relaciones observadas son descriptivas y no demuestran causalidad.</a:t>
            </a:r>
          </a:p>
        </p:txBody>
      </p:sp>
    </p:spTree>
    <p:extLst>
      <p:ext uri="{BB962C8B-B14F-4D97-AF65-F5344CB8AC3E}">
        <p14:creationId xmlns:p14="http://schemas.microsoft.com/office/powerpoint/2010/main" val="13753941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061E9-9497-49E5-AFB9-F5863B9B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Partición para selección y evaluación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674DC-5DE4-480B-A94F-A9BE704B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1CCC-FBE9-4489-A356-1435528E0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8097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60 %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58F77-C6FA-4C66-B95A-2E7180F4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66700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Entrenamiento</a:t>
            </a:r>
          </a:p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4.225 clientes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BA24B-7494-4961-B869-36C20CCA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8097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20 %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18194-0318-4170-A881-177EBE44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66700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Validación</a:t>
            </a:r>
          </a:p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1.409 clientes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06DE2-B0DA-46B1-978E-37BAE664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8097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5487C2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5487C2"/>
                </a:solidFill>
                <a:latin typeface="Aptos"/>
                <a:ea typeface="Aptos"/>
                <a:cs typeface="Aptos"/>
              </a:rPr>
              <a:t>20 %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10525-E073-4063-AE44-9C5FC491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6700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Test aislado</a:t>
            </a:r>
          </a:p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1.409 clientes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38CBDA-3528-4667-B6CA-417CBE8D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La validación selecciona el candidato. El test se usa una sola vez al final.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A9B6C6-2E07-4904-A72E-95FF2D81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95875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random_state = 42 permite repetir exactamente la separación.</a:t>
            </a:r>
          </a:p>
        </p:txBody>
      </p:sp>
    </p:spTree>
    <p:extLst>
      <p:ext uri="{BB962C8B-B14F-4D97-AF65-F5344CB8AC3E}">
        <p14:creationId xmlns:p14="http://schemas.microsoft.com/office/powerpoint/2010/main" val="20836217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12413-8600-4498-907F-786E033D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Pipeline de preprocesamiento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209C8-C60A-412B-A218-A8C7CDB8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809625" y="1428750"/>
          <a:ext xmlns:a="http://schemas.openxmlformats.org/drawingml/2006/main" cx="105727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476750"/>
                <a:gridCol w="4000500"/>
              </a:tblGrid>
              <a:tr h="71437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Grupo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Variables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Transformación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Numéricas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tenure, MonthlyCharges, TotalCharges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Mediana y StandardScaler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Categóricas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Variables de tipo texto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One-Hot Encoding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Binaria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SeniorCitizen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0/1 convertido a No/Yes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76044-14C6-4FAB-9E6E-5139ED8A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ColumnTransformer aplica cada tratamiento a las columnas correspondientes.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971930-57CA-4379-B0E8-E00DC63D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81625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El pipeline ajusta la imputación y el escalado sólo con el conjunto de entrenamiento.</a:t>
            </a:r>
          </a:p>
        </p:txBody>
      </p:sp>
    </p:spTree>
    <p:extLst>
      <p:ext uri="{BB962C8B-B14F-4D97-AF65-F5344CB8AC3E}">
        <p14:creationId xmlns:p14="http://schemas.microsoft.com/office/powerpoint/2010/main" val="17239691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C8537-0CB6-44A0-840A-A59E7E38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Modelos comparados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36E65-2B80-4B7C-9F17-FFF8FA076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809625" y="1381125"/>
          <a:ext xmlns:a="http://schemas.openxmlformats.org/drawingml/2006/main" cx="1057275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334000"/>
                <a:gridCol w="3238500"/>
              </a:tblGrid>
              <a:tr h="6477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Familia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Configuración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Función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Baseline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DummyClassifier, strategy=prior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Referencia mínima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Lineal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Logística balanceada con C=0,5 y C=1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Compara regularización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Umbral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Logística C=1 con threshold=0,35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Aumenta la detección de churn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Árbol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Random Forest con profundidad 5 y 10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Compara complejidad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846F1-7967-4637-AA97-C47F80BE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953000"/>
            <a:ext cx="981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Las seis corridas usan el mismo pipeline y la misma partición.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C954ED-836B-4AD4-A2F7-420682E6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76875"/>
            <a:ext cx="962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Recall es la métrica principal porque un falso negativo deja sin identificar a un cliente que abandona.</a:t>
            </a:r>
          </a:p>
        </p:txBody>
      </p:sp>
    </p:spTree>
    <p:extLst>
      <p:ext uri="{BB962C8B-B14F-4D97-AF65-F5344CB8AC3E}">
        <p14:creationId xmlns:p14="http://schemas.microsoft.com/office/powerpoint/2010/main" val="18771519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9C8B28-1422-4B9E-A923-1741D351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Comparación de resultados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E5020F-164C-49DD-8C08-86D52695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19125" y="1381125"/>
          <a:ext xmlns:a="http://schemas.openxmlformats.org/drawingml/2006/main" cx="7524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0c5ab76b9e4eab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293D7-AC73-41B2-8372-6643C13E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76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Candidata inicial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C9BC2-9703-4F86-9C42-971F6F6B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Logística</a:t>
            </a:r>
          </a:p>
          <a:p xmlns:a="http://schemas.openxmlformats.org/drawingml/2006/main">
            <a:pPr algn="ctr">
              <a:defRPr sz="255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umbral 0,35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EB88C-2D64-4C5E-A640-52B3BE5D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476625"/>
            <a:ext cx="2286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Recall 0,887</a:t>
            </a:r>
          </a:p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F1 0,573</a:t>
            </a:r>
          </a:p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ROC-AUC 0,821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36AA6-6885-4AAA-AB98-E83E2B56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53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Seleccionada con validación antes de evaluar el test</a:t>
            </a:r>
          </a:p>
        </p:txBody>
      </p:sp>
    </p:spTree>
    <p:extLst>
      <p:ext uri="{BB962C8B-B14F-4D97-AF65-F5344CB8AC3E}">
        <p14:creationId xmlns:p14="http://schemas.microsoft.com/office/powerpoint/2010/main" val="2165696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6487B-DA22-460B-9266-8C97D6D9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Evaluación final del candidato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BAF2F4-E80D-4CE2-B4F1-4C27AA08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27F00-CEFB-45DC-A0B9-B881E60F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4300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Regresión Logística balanceada con umbral 0,35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1143000" y="2095500"/>
          <a:ext xmlns:a="http://schemas.openxmlformats.org/drawingml/2006/main" cx="581025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1714500"/>
                <a:gridCol w="1714500"/>
              </a:tblGrid>
              <a:tr h="79375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Real / Predicho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No churn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Churn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79375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No churn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609 TN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428 FP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9375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Churn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57 FN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315 TP</a:t>
                      </a:r>
                    </a:p>
                  </a:txBody>
                  <a:tcPr marL="91440" marR="91440" marT="45720" marB="45720" anchor="ctr">
                    <a:solidFill>
                      <a:srgbClr val="E2F2E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D6DA99-F8C5-4D94-9DFB-10FF45C8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7875"/>
            <a:ext cx="266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0,847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67B91-37FF-4E81-B7FE-29F876F3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4F44C-DCF2-4E45-B444-AE502EBC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81375"/>
            <a:ext cx="266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315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A367F-1D61-4E1A-8D2A-15E0F4DC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abandonos detectados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67C36E-C52B-4885-B7B5-5A4E1E35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38750"/>
            <a:ext cx="9810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El modelo se seleccionó con validación y se evaluó una sola vez sobre el test aislado.</a:t>
            </a:r>
          </a:p>
        </p:txBody>
      </p:sp>
    </p:spTree>
    <p:extLst>
      <p:ext uri="{BB962C8B-B14F-4D97-AF65-F5344CB8AC3E}">
        <p14:creationId xmlns:p14="http://schemas.microsoft.com/office/powerpoint/2010/main" val="1469995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E0FFC-F99C-45B3-9512-C382FAED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Experimentos registrados en MLflow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83D927-EBA6-470D-94C4-C3766111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857250" y="1285875"/>
          <a:ext xmlns:a="http://schemas.openxmlformats.org/drawingml/2006/main" cx="10477500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1905000"/>
                <a:gridCol w="1905000"/>
                <a:gridCol w="1905000"/>
              </a:tblGrid>
              <a:tr h="598714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Run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Recall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F1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ROC-AUC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dummy_prior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0,500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logreg_c0.5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0,768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0,603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0,821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logreg_c1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0,771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0,603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0,821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logreg_c1_threshold035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0,887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0,573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0,821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random_forest_depth5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0,784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0,583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0,804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random_forest_depth10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0,717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0,600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0,807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9A6EE-BF5B-4EBC-AD73-483F23A9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942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7D5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7D55"/>
                </a:solidFill>
                <a:latin typeface="Aptos"/>
                <a:ea typeface="Aptos"/>
                <a:cs typeface="Aptos"/>
              </a:rPr>
              <a:t>Cada Run guarda parámetros, métricas, artefactos, pipeline, commit y hash del dataset.</a:t>
            </a:r>
          </a:p>
        </p:txBody>
      </p:sp>
    </p:spTree>
    <p:extLst>
      <p:ext uri="{BB962C8B-B14F-4D97-AF65-F5344CB8AC3E}">
        <p14:creationId xmlns:p14="http://schemas.microsoft.com/office/powerpoint/2010/main" val="8922883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B3A5A-3B02-4381-A562-282BFE24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Trazabilidad de la entrega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445AA-296E-40C3-B62D-4F96224A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857250" y="1285875"/>
          <a:ext xmlns:a="http://schemas.openxmlformats.org/drawingml/2006/main" cx="10477500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6381750"/>
              </a:tblGrid>
              <a:tr h="598714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Componente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Evidencia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Git y GitHub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Código en main; Run originado en commit f629724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DVC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dvc push y dvc pull desde una segunda copia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MLflow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Seis Runs y una corrida final en DagsHub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Model Registry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customer-churn-candidate, versión 4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Candidato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Run cbc3cc5511bf4a5fae054191f097fe76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598714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Cierre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Tag entrega-1 identifica el commit presentado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6F00B-1860-435C-A265-BFEF5BBC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762625"/>
            <a:ext cx="1000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Git identifica el código, DVC identifica los datos y MLflow identifica el modelo.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1C949-1B95-48E6-A121-0FA01050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623887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github.com/alfonsinadiaz/customer-churn-ml</a:t>
            </a:r>
          </a:p>
        </p:txBody>
      </p:sp>
    </p:spTree>
    <p:extLst>
      <p:ext uri="{BB962C8B-B14F-4D97-AF65-F5344CB8AC3E}">
        <p14:creationId xmlns:p14="http://schemas.microsoft.com/office/powerpoint/2010/main" val="4192341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2026-09-21T15:01:51.7370000Z</dcterms:created>
  <dcterms:modified xsi:type="dcterms:W3CDTF">2026-09-21T15:01:51.7370000Z</dcterms:modified>
</coreProperties>
</file>